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4e675e5-0931-42ec-0d8e-fe68667477f6}">
          <p14:sldIdLst>
            <p14:sldId id="256"/>
          </p14:sldIdLst>
        </p14:section>
        <p14:section name="Problem" id="{03fdc3ae-52d2-e957-5ca4-7de8cd6d9c1c}">
          <p14:sldIdLst>
            <p14:sldId id="257"/>
            <p14:sldId id="258"/>
          </p14:sldIdLst>
        </p14:section>
        <p14:section name="Design" id="{fbd0fd0a-24b9-b7d0-27da-3adc797aec2b}">
          <p14:sldIdLst>
            <p14:sldId id="259"/>
            <p14:sldId id="260"/>
            <p14:sldId id="261"/>
          </p14:sldIdLst>
        </p14:section>
        <p14:section name="Build" id="{d745d9f4-3891-c48a-e808-7b8821371e8b}">
          <p14:sldIdLst>
            <p14:sldId id="262"/>
            <p14:sldId id="263"/>
            <p14:sldId id="264"/>
            <p14:sldId id="265"/>
          </p14:sldIdLst>
        </p14:section>
        <p14:section name="Proof" id="{9f6ca88f-be05-ce7f-ade9-13a534c99c5c}">
          <p14:sldIdLst>
            <p14:sldId id="266"/>
            <p14:sldId id="267"/>
            <p14:sldId id="268"/>
          </p14:sldIdLst>
        </p14:section>
        <p14:section name="Close" id="{96e86818-8018-729d-fc0e-895468642736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D8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D8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 |  17.10.2026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Process Watchdog and Auto-Restart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7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 selected processes. Restart them automatically when they die.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[Team Name]   •   Members: [Name 1, Name 2, Name 3, Name 4]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20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watchdog --watch nginx,worker.py --restart-on-exit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D8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processes die, silently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crashed service means downtime, lost requests and manual firefighting at 3 AM.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68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a lightweight system that notices a termination within seconds and brings the process back, with no human in the loop.</a:t>
            </a:r>
            <a:endParaRPr lang="en-US" sz="1600" dirty="0"/>
          </a:p>
        </p:txBody>
      </p:sp>
      <p:sp>
        <p:nvSpPr>
          <p:cNvPr id="5" name="problem-card-0"/>
          <p:cNvSpPr/>
          <p:nvPr/>
        </p:nvSpPr>
        <p:spPr>
          <a:xfrm>
            <a:off x="5029200" y="11887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/>
        </p:spPr>
      </p:sp>
      <p:sp>
        <p:nvSpPr>
          <p:cNvPr id="6" name="dot0"/>
          <p:cNvSpPr/>
          <p:nvPr/>
        </p:nvSpPr>
        <p:spPr>
          <a:xfrm>
            <a:off x="5212080" y="1417320"/>
            <a:ext cx="457200" cy="45720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521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Segfault, unhandled exception, OOM kill</a:t>
            </a:r>
            <a:endParaRPr lang="en-US" sz="1400" dirty="0"/>
          </a:p>
        </p:txBody>
      </p:sp>
      <p:sp>
        <p:nvSpPr>
          <p:cNvPr id="9" name="problem-card-1"/>
          <p:cNvSpPr/>
          <p:nvPr/>
        </p:nvSpPr>
        <p:spPr>
          <a:xfrm>
            <a:off x="5029200" y="22860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/>
        </p:spPr>
      </p:sp>
      <p:sp>
        <p:nvSpPr>
          <p:cNvPr id="10" name="dot1"/>
          <p:cNvSpPr/>
          <p:nvPr/>
        </p:nvSpPr>
        <p:spPr>
          <a:xfrm>
            <a:off x="5212080" y="2514600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kill -9 or kill -15</a:t>
            </a:r>
            <a:endParaRPr lang="en-US" sz="1400" dirty="0"/>
          </a:p>
        </p:txBody>
      </p:sp>
      <p:sp>
        <p:nvSpPr>
          <p:cNvPr id="13" name="problem-card-2"/>
          <p:cNvSpPr/>
          <p:nvPr/>
        </p:nvSpPr>
        <p:spPr>
          <a:xfrm>
            <a:off x="5029200" y="33832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/>
        </p:spPr>
      </p:sp>
      <p:sp>
        <p:nvSpPr>
          <p:cNvPr id="14" name="dot2"/>
          <p:cNvSpPr/>
          <p:nvPr/>
        </p:nvSpPr>
        <p:spPr>
          <a:xfrm>
            <a:off x="5212080" y="3611880"/>
            <a:ext cx="457200" cy="457200"/>
          </a:xfrm>
          <a:prstGeom prst="ellipse">
            <a:avLst/>
          </a:prstGeom>
          <a:solidFill>
            <a:srgbClr val="3B82A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5216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exit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quits, nobody notices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obj-0"/>
          <p:cNvSpPr/>
          <p:nvPr/>
        </p:nvSpPr>
        <p:spPr>
          <a:xfrm>
            <a:off x="457200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EF4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user-defined list of processes continuously</a:t>
            </a:r>
            <a:endParaRPr lang="en-US" sz="1400" dirty="0"/>
          </a:p>
        </p:txBody>
      </p:sp>
      <p:sp>
        <p:nvSpPr>
          <p:cNvPr id="7" name="obj-1"/>
          <p:cNvSpPr/>
          <p:nvPr/>
        </p:nvSpPr>
        <p:spPr>
          <a:xfrm>
            <a:off x="2532888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EF4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15768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715768" y="27432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unexpected termination within one polling interval</a:t>
            </a:r>
            <a:endParaRPr lang="en-US" sz="1400" dirty="0"/>
          </a:p>
        </p:txBody>
      </p:sp>
      <p:sp>
        <p:nvSpPr>
          <p:cNvPr id="11" name="obj-2"/>
          <p:cNvSpPr/>
          <p:nvPr/>
        </p:nvSpPr>
        <p:spPr>
          <a:xfrm>
            <a:off x="4608576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EF4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27432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Relaunch automatically with a safe restart policy</a:t>
            </a:r>
            <a:endParaRPr lang="en-US" sz="1400" dirty="0"/>
          </a:p>
        </p:txBody>
      </p:sp>
      <p:sp>
        <p:nvSpPr>
          <p:cNvPr id="15" name="obj-3"/>
          <p:cNvSpPr/>
          <p:nvPr/>
        </p:nvSpPr>
        <p:spPr>
          <a:xfrm>
            <a:off x="6684264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EF4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67144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867144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867144" y="27432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event so failures can be audited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arch-0"/>
          <p:cNvSpPr/>
          <p:nvPr/>
        </p:nvSpPr>
        <p:spPr>
          <a:xfrm>
            <a:off x="457200" y="12801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C3A3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 / YAML)</a:t>
            </a:r>
            <a:endParaRPr lang="en-US" sz="1600" dirty="0"/>
          </a:p>
        </p:txBody>
      </p:sp>
      <p:sp>
        <p:nvSpPr>
          <p:cNvPr id="5" name="arch-1"/>
          <p:cNvSpPr/>
          <p:nvPr/>
        </p:nvSpPr>
        <p:spPr>
          <a:xfrm>
            <a:off x="3108960" y="12801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2BB6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08960" y="1280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(poll loop)</a:t>
            </a:r>
            <a:endParaRPr lang="en-US" sz="1600" dirty="0"/>
          </a:p>
        </p:txBody>
      </p:sp>
      <p:sp>
        <p:nvSpPr>
          <p:cNvPr id="7" name="arch-2"/>
          <p:cNvSpPr/>
          <p:nvPr/>
        </p:nvSpPr>
        <p:spPr>
          <a:xfrm>
            <a:off x="5760720" y="12801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5A5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60720" y="1280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Engine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(policy + backoff)</a:t>
            </a:r>
            <a:endParaRPr lang="en-US" sz="1600" dirty="0"/>
          </a:p>
        </p:txBody>
      </p:sp>
      <p:sp>
        <p:nvSpPr>
          <p:cNvPr id="9" name="arch-3"/>
          <p:cNvSpPr/>
          <p:nvPr/>
        </p:nvSpPr>
        <p:spPr>
          <a:xfrm>
            <a:off x="3108960" y="32004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5F746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08960" y="3200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600" dirty="0"/>
          </a:p>
        </p:txBody>
      </p:sp>
      <p:sp>
        <p:nvSpPr>
          <p:cNvPr id="11" name="arch-4"/>
          <p:cNvSpPr/>
          <p:nvPr/>
        </p:nvSpPr>
        <p:spPr>
          <a:xfrm>
            <a:off x="5760720" y="32004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3B82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60720" y="3200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(file + console)</a:t>
            </a:r>
            <a:endParaRPr lang="en-US" sz="1600" dirty="0"/>
          </a:p>
        </p:txBody>
      </p:sp>
      <p:sp>
        <p:nvSpPr>
          <p:cNvPr id="13" name="arrow"/>
          <p:cNvSpPr/>
          <p:nvPr/>
        </p:nvSpPr>
        <p:spPr>
          <a:xfrm>
            <a:off x="2468880" y="1783080"/>
            <a:ext cx="640080" cy="0"/>
          </a:xfrm>
          <a:prstGeom prst="line">
            <a:avLst/>
          </a:prstGeom>
          <a:noFill/>
          <a:ln w="25400">
            <a:solidFill>
              <a:srgbClr val="5F746C"/>
            </a:solidFill>
            <a:prstDash val="solid"/>
            <a:tailEnd type="triangle"/>
          </a:ln>
        </p:spPr>
      </p:sp>
      <p:sp>
        <p:nvSpPr>
          <p:cNvPr id="14" name="arrow"/>
          <p:cNvSpPr/>
          <p:nvPr/>
        </p:nvSpPr>
        <p:spPr>
          <a:xfrm>
            <a:off x="5120640" y="1783080"/>
            <a:ext cx="640080" cy="0"/>
          </a:xfrm>
          <a:prstGeom prst="line">
            <a:avLst/>
          </a:prstGeom>
          <a:noFill/>
          <a:ln w="25400">
            <a:solidFill>
              <a:srgbClr val="5F746C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4114800" y="2286000"/>
            <a:ext cx="0" cy="914400"/>
          </a:xfrm>
          <a:prstGeom prst="line">
            <a:avLst/>
          </a:prstGeom>
          <a:noFill/>
          <a:ln w="25400">
            <a:solidFill>
              <a:srgbClr val="5F746C"/>
            </a:solidFill>
            <a:prstDash val="solid"/>
            <a:headEnd type="triangle"/>
            <a:tailEnd type="triangle"/>
          </a:ln>
        </p:spPr>
      </p:sp>
      <p:sp>
        <p:nvSpPr>
          <p:cNvPr id="16" name="arrow"/>
          <p:cNvSpPr/>
          <p:nvPr/>
        </p:nvSpPr>
        <p:spPr>
          <a:xfrm>
            <a:off x="6766560" y="2286000"/>
            <a:ext cx="0" cy="914400"/>
          </a:xfrm>
          <a:prstGeom prst="line">
            <a:avLst/>
          </a:prstGeom>
          <a:noFill/>
          <a:ln w="25400">
            <a:solidFill>
              <a:srgbClr val="5F746C"/>
            </a:solidFill>
            <a:prstDash val="solid"/>
            <a:tailEnd type="triangle"/>
          </a:ln>
        </p:spPr>
      </p:sp>
      <p:sp>
        <p:nvSpPr>
          <p:cNvPr id="17" name="arrow"/>
          <p:cNvSpPr/>
          <p:nvPr/>
        </p:nvSpPr>
        <p:spPr>
          <a:xfrm flipH="1">
            <a:off x="4937760" y="2286000"/>
            <a:ext cx="1097280" cy="914400"/>
          </a:xfrm>
          <a:prstGeom prst="line">
            <a:avLst/>
          </a:prstGeom>
          <a:noFill/>
          <a:ln w="25400">
            <a:solidFill>
              <a:srgbClr val="5F746C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572000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relaunch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2004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checks each PID. On a dead process, the Restart Engine applies the policy, relaunches it and logs the event.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watchdog loop works</a:t>
            </a:r>
            <a:endParaRPr lang="en-US" sz="3200" dirty="0"/>
          </a:p>
        </p:txBody>
      </p:sp>
      <p:sp>
        <p:nvSpPr>
          <p:cNvPr id="3" name="step-circle-0"/>
          <p:cNvSpPr/>
          <p:nvPr/>
        </p:nvSpPr>
        <p:spPr>
          <a:xfrm>
            <a:off x="868680" y="1371600"/>
            <a:ext cx="640080" cy="64008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process table every N seconds</a:t>
            </a:r>
            <a:endParaRPr lang="en-US" sz="1400" dirty="0"/>
          </a:p>
        </p:txBody>
      </p:sp>
      <p:sp>
        <p:nvSpPr>
          <p:cNvPr id="7" name="flow-arrow0"/>
          <p:cNvSpPr/>
          <p:nvPr/>
        </p:nvSpPr>
        <p:spPr>
          <a:xfrm>
            <a:off x="1554480" y="1691640"/>
            <a:ext cx="548640" cy="0"/>
          </a:xfrm>
          <a:prstGeom prst="line">
            <a:avLst/>
          </a:prstGeom>
          <a:noFill/>
          <a:ln w="25400">
            <a:solidFill>
              <a:srgbClr val="A7D8C0"/>
            </a:solidFill>
            <a:prstDash val="solid"/>
            <a:tailEnd type="triangle"/>
          </a:ln>
        </p:spPr>
      </p:sp>
      <p:sp>
        <p:nvSpPr>
          <p:cNvPr id="8" name="step-circle-1"/>
          <p:cNvSpPr/>
          <p:nvPr/>
        </p:nvSpPr>
        <p:spPr>
          <a:xfrm>
            <a:off x="2532888" y="1371600"/>
            <a:ext cx="640080" cy="64008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3288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121408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2606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missing or state is dead/zombie</a:t>
            </a:r>
            <a:endParaRPr lang="en-US" sz="1400" dirty="0"/>
          </a:p>
        </p:txBody>
      </p:sp>
      <p:sp>
        <p:nvSpPr>
          <p:cNvPr id="12" name="flow-arrow1"/>
          <p:cNvSpPr/>
          <p:nvPr/>
        </p:nvSpPr>
        <p:spPr>
          <a:xfrm>
            <a:off x="3218688" y="1691640"/>
            <a:ext cx="548640" cy="0"/>
          </a:xfrm>
          <a:prstGeom prst="line">
            <a:avLst/>
          </a:prstGeom>
          <a:noFill/>
          <a:ln w="25400">
            <a:solidFill>
              <a:srgbClr val="A7D8C0"/>
            </a:solidFill>
            <a:prstDash val="solid"/>
            <a:tailEnd type="triangle"/>
          </a:ln>
        </p:spPr>
      </p:sp>
      <p:sp>
        <p:nvSpPr>
          <p:cNvPr id="13" name="step-circle-2"/>
          <p:cNvSpPr/>
          <p:nvPr/>
        </p:nvSpPr>
        <p:spPr>
          <a:xfrm>
            <a:off x="4197096" y="1371600"/>
            <a:ext cx="640080" cy="64008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97096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785616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85616" y="2606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retry count and cool-down</a:t>
            </a:r>
            <a:endParaRPr lang="en-US" sz="1400" dirty="0"/>
          </a:p>
        </p:txBody>
      </p:sp>
      <p:sp>
        <p:nvSpPr>
          <p:cNvPr id="17" name="flow-arrow2"/>
          <p:cNvSpPr/>
          <p:nvPr/>
        </p:nvSpPr>
        <p:spPr>
          <a:xfrm>
            <a:off x="4882896" y="1691640"/>
            <a:ext cx="548640" cy="0"/>
          </a:xfrm>
          <a:prstGeom prst="line">
            <a:avLst/>
          </a:prstGeom>
          <a:noFill/>
          <a:ln w="25400">
            <a:solidFill>
              <a:srgbClr val="A7D8C0"/>
            </a:solidFill>
            <a:prstDash val="solid"/>
            <a:tailEnd type="triangle"/>
          </a:ln>
        </p:spPr>
      </p:sp>
      <p:sp>
        <p:nvSpPr>
          <p:cNvPr id="18" name="step-circle-3"/>
          <p:cNvSpPr/>
          <p:nvPr/>
        </p:nvSpPr>
        <p:spPr>
          <a:xfrm>
            <a:off x="5861304" y="137160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61304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449824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449824" y="2606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command with same arguments</a:t>
            </a:r>
            <a:endParaRPr lang="en-US" sz="1400" dirty="0"/>
          </a:p>
        </p:txBody>
      </p:sp>
      <p:sp>
        <p:nvSpPr>
          <p:cNvPr id="22" name="flow-arrow3"/>
          <p:cNvSpPr/>
          <p:nvPr/>
        </p:nvSpPr>
        <p:spPr>
          <a:xfrm>
            <a:off x="6547104" y="1691640"/>
            <a:ext cx="548640" cy="0"/>
          </a:xfrm>
          <a:prstGeom prst="line">
            <a:avLst/>
          </a:prstGeom>
          <a:noFill/>
          <a:ln w="25400">
            <a:solidFill>
              <a:srgbClr val="A7D8C0"/>
            </a:solidFill>
            <a:prstDash val="solid"/>
            <a:tailEnd type="triangle"/>
          </a:ln>
        </p:spPr>
      </p:sp>
      <p:sp>
        <p:nvSpPr>
          <p:cNvPr id="23" name="step-circle-4"/>
          <p:cNvSpPr/>
          <p:nvPr/>
        </p:nvSpPr>
        <p:spPr>
          <a:xfrm>
            <a:off x="7525512" y="1371600"/>
            <a:ext cx="640080" cy="64008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25512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114032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2606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time, reason, new PID</a:t>
            </a:r>
            <a:endParaRPr lang="en-US" sz="1400" dirty="0"/>
          </a:p>
        </p:txBody>
      </p:sp>
      <p:sp>
        <p:nvSpPr>
          <p:cNvPr id="27" name="loop-note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repeats forever. Between cycles the watchdog sleeps, so CPU usage stays negligible.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feat-0"/>
          <p:cNvSpPr/>
          <p:nvPr/>
        </p:nvSpPr>
        <p:spPr>
          <a:xfrm>
            <a:off x="457200" y="12801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4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Relaunches any watched process that exits unexpectedly</a:t>
            </a:r>
            <a:endParaRPr lang="en-US" sz="1400" dirty="0"/>
          </a:p>
        </p:txBody>
      </p:sp>
      <p:sp>
        <p:nvSpPr>
          <p:cNvPr id="6" name="feat-1"/>
          <p:cNvSpPr/>
          <p:nvPr/>
        </p:nvSpPr>
        <p:spPr>
          <a:xfrm>
            <a:off x="3246120" y="12801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4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limits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retries within a time window stops crash loops</a:t>
            </a:r>
            <a:endParaRPr lang="en-US" sz="1400" dirty="0"/>
          </a:p>
        </p:txBody>
      </p:sp>
      <p:sp>
        <p:nvSpPr>
          <p:cNvPr id="9" name="feat-2"/>
          <p:cNvSpPr/>
          <p:nvPr/>
        </p:nvSpPr>
        <p:spPr>
          <a:xfrm>
            <a:off x="6035040" y="12801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4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longer after each consecutive failure</a:t>
            </a:r>
            <a:endParaRPr lang="en-US" sz="1400" dirty="0"/>
          </a:p>
        </p:txBody>
      </p:sp>
      <p:sp>
        <p:nvSpPr>
          <p:cNvPr id="12" name="feat-3"/>
          <p:cNvSpPr/>
          <p:nvPr/>
        </p:nvSpPr>
        <p:spPr>
          <a:xfrm>
            <a:off x="457200" y="2971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4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processes in a file, no code change</a:t>
            </a:r>
            <a:endParaRPr lang="en-US" sz="1400" dirty="0"/>
          </a:p>
        </p:txBody>
      </p:sp>
      <p:sp>
        <p:nvSpPr>
          <p:cNvPr id="15" name="feat-4"/>
          <p:cNvSpPr/>
          <p:nvPr/>
        </p:nvSpPr>
        <p:spPr>
          <a:xfrm>
            <a:off x="3246120" y="2971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4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2900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events for crashes and restarts</a:t>
            </a:r>
            <a:endParaRPr lang="en-US" sz="1400" dirty="0"/>
          </a:p>
        </p:txBody>
      </p:sp>
      <p:sp>
        <p:nvSpPr>
          <p:cNvPr id="18" name="feat-5"/>
          <p:cNvSpPr/>
          <p:nvPr/>
        </p:nvSpPr>
        <p:spPr>
          <a:xfrm>
            <a:off x="6035040" y="2971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4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SIGINT/SIGTERM and exits cleanly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tech-dot0"/>
          <p:cNvSpPr/>
          <p:nvPr/>
        </p:nvSpPr>
        <p:spPr>
          <a:xfrm>
            <a:off x="548640" y="1325880"/>
            <a:ext cx="274320" cy="27432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234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OS, /proc process table</a:t>
            </a:r>
            <a:endParaRPr lang="en-US" sz="1400" dirty="0"/>
          </a:p>
        </p:txBody>
      </p:sp>
      <p:sp>
        <p:nvSpPr>
          <p:cNvPr id="6" name="tech-dot1"/>
          <p:cNvSpPr/>
          <p:nvPr/>
        </p:nvSpPr>
        <p:spPr>
          <a:xfrm>
            <a:off x="548640" y="1874520"/>
            <a:ext cx="274320" cy="27432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watchdog logic</a:t>
            </a:r>
            <a:endParaRPr lang="en-US" sz="1400" dirty="0"/>
          </a:p>
        </p:txBody>
      </p:sp>
      <p:sp>
        <p:nvSpPr>
          <p:cNvPr id="9" name="tech-dot2"/>
          <p:cNvSpPr/>
          <p:nvPr/>
        </p:nvSpPr>
        <p:spPr>
          <a:xfrm>
            <a:off x="548640" y="2423160"/>
            <a:ext cx="274320" cy="27432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/ subprocess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331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inspection and spawning</a:t>
            </a:r>
            <a:endParaRPr lang="en-US" sz="1400" dirty="0"/>
          </a:p>
        </p:txBody>
      </p:sp>
      <p:sp>
        <p:nvSpPr>
          <p:cNvPr id="12" name="tech-dot3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YAML config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processes and policies</a:t>
            </a:r>
            <a:endParaRPr lang="en-US" sz="1400" dirty="0"/>
          </a:p>
        </p:txBody>
      </p:sp>
      <p:sp>
        <p:nvSpPr>
          <p:cNvPr id="15" name="tech-dot4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watchdog itself running at boot</a:t>
            </a:r>
            <a:endParaRPr lang="en-US" sz="1400" dirty="0"/>
          </a:p>
        </p:txBody>
      </p:sp>
      <p:sp>
        <p:nvSpPr>
          <p:cNvPr id="18" name="tech-dot5"/>
          <p:cNvSpPr/>
          <p:nvPr/>
        </p:nvSpPr>
        <p:spPr>
          <a:xfrm>
            <a:off x="548640" y="4069080"/>
            <a:ext cx="274320" cy="27432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documentation</a:t>
            </a:r>
            <a:endParaRPr lang="en-US" sz="1400" dirty="0"/>
          </a:p>
        </p:txBody>
      </p:sp>
      <p:sp>
        <p:nvSpPr>
          <p:cNvPr id="21" name="term-panel"/>
          <p:cNvSpPr/>
          <p:nvPr/>
        </p:nvSpPr>
        <p:spPr>
          <a:xfrm>
            <a:off x="6949440" y="1234440"/>
            <a:ext cx="1737360" cy="3200400"/>
          </a:xfrm>
          <a:prstGeom prst="roundRect">
            <a:avLst>
              <a:gd name="adj" fmla="val 4211"/>
            </a:avLst>
          </a:prstGeom>
          <a:solidFill>
            <a:srgbClr val="10201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86600" y="1371600"/>
            <a:ext cx="1508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-e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kill -9 4821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[WARN] svc gone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restart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pid 5033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approach</a:t>
            </a:r>
            <a:endParaRPr lang="en-US" sz="3200" dirty="0"/>
          </a:p>
        </p:txBody>
      </p:sp>
      <p:sp>
        <p:nvSpPr>
          <p:cNvPr id="3" name="repo-panel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10201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watchdog/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watchdog.py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monitor.py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restarter.py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logger.py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config.json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monitor.py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536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each target by name or PID and reports its state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restarter.py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4048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retry limits and backoff, then relaunches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logger.py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273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timestamped events to a log file and console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watchdog.py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1422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loop, config loading, signal handling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and restart policy</a:t>
            </a:r>
            <a:endParaRPr lang="en-US" sz="3200" dirty="0"/>
          </a:p>
        </p:txBody>
      </p:sp>
      <p:sp>
        <p:nvSpPr>
          <p:cNvPr id="3" name="config-panel"/>
          <p:cNvSpPr/>
          <p:nvPr/>
        </p:nvSpPr>
        <p:spPr>
          <a:xfrm>
            <a:off x="457200" y="1234440"/>
            <a:ext cx="4754880" cy="3291840"/>
          </a:xfrm>
          <a:prstGeom prst="roundRect">
            <a:avLst>
              <a:gd name="adj" fmla="val 2222"/>
            </a:avLst>
          </a:prstGeom>
          <a:solidFill>
            <a:srgbClr val="10201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"interval_sec": 2,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"processes": [{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"worker",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"cmd": "python3 worker.py",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"max_retries": 5,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"window_sec": 60,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"backoff": "exponential"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policy-0"/>
          <p:cNvSpPr/>
          <p:nvPr/>
        </p:nvSpPr>
        <p:spPr>
          <a:xfrm>
            <a:off x="5486400" y="1234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EF4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limit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664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6th failure within 60 s: stop retrying and log an error</a:t>
            </a:r>
            <a:endParaRPr lang="en-US" sz="1400" dirty="0"/>
          </a:p>
        </p:txBody>
      </p:sp>
      <p:sp>
        <p:nvSpPr>
          <p:cNvPr id="8" name="policy-1"/>
          <p:cNvSpPr/>
          <p:nvPr/>
        </p:nvSpPr>
        <p:spPr>
          <a:xfrm>
            <a:off x="5486400" y="2377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EF4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807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1 s, 2 s, 4 s ... between attempts</a:t>
            </a:r>
            <a:endParaRPr lang="en-US" sz="1400" dirty="0"/>
          </a:p>
        </p:txBody>
      </p:sp>
      <p:sp>
        <p:nvSpPr>
          <p:cNvPr id="11" name="policy-2"/>
          <p:cNvSpPr/>
          <p:nvPr/>
        </p:nvSpPr>
        <p:spPr>
          <a:xfrm>
            <a:off x="548640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EF4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Per-process rules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3950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target has its own command and limits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and safe by design</a:t>
            </a:r>
            <a:endParaRPr lang="en-US" sz="3200" dirty="0"/>
          </a:p>
        </p:txBody>
      </p:sp>
      <p:sp>
        <p:nvSpPr>
          <p:cNvPr id="3" name="safe-0"/>
          <p:cNvSpPr/>
          <p:nvPr/>
        </p:nvSpPr>
        <p:spPr>
          <a:xfrm>
            <a:off x="457200" y="13258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C3A3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only processes listed in the config, never anything else</a:t>
            </a:r>
            <a:endParaRPr lang="en-US" sz="1400" dirty="0"/>
          </a:p>
        </p:txBody>
      </p:sp>
      <p:sp>
        <p:nvSpPr>
          <p:cNvPr id="6" name="safe-1"/>
          <p:cNvSpPr/>
          <p:nvPr/>
        </p:nvSpPr>
        <p:spPr>
          <a:xfrm>
            <a:off x="4663440" y="13258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C3A3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Unprivileged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normal user, no root needed for the demo</a:t>
            </a:r>
            <a:endParaRPr lang="en-US" sz="1400" dirty="0"/>
          </a:p>
        </p:txBody>
      </p:sp>
      <p:sp>
        <p:nvSpPr>
          <p:cNvPr id="9" name="safe-2"/>
          <p:cNvSpPr/>
          <p:nvPr/>
        </p:nvSpPr>
        <p:spPr>
          <a:xfrm>
            <a:off x="457200" y="2880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C3A3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dummy processes in an isolated environment</a:t>
            </a:r>
            <a:endParaRPr lang="en-US" sz="1400" dirty="0"/>
          </a:p>
        </p:txBody>
      </p:sp>
      <p:sp>
        <p:nvSpPr>
          <p:cNvPr id="12" name="safe-3"/>
          <p:cNvSpPr/>
          <p:nvPr/>
        </p:nvSpPr>
        <p:spPr>
          <a:xfrm>
            <a:off x="4663440" y="2880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C3A3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limits prevent restart storms and resource exhaustion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D8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validation</a:t>
            </a:r>
            <a:endParaRPr lang="en-US" sz="3200" dirty="0"/>
          </a:p>
        </p:txBody>
      </p:sp>
      <p:graphicFrame>
        <p:nvGraphicFramePr>
          <p:cNvPr id="12" name="tes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crash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-9 &lt;pid&gt;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 and restarted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Graceful stop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-15 &lt;pid&gt;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 and restarted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Self-exit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calls exit(1)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Restarted with new PID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 loop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fails at launch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Backoff, then stop at limit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targets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two at once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restarted independently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is scripted in tests/ and the outcome is checked from the log file.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 plan</a:t>
            </a:r>
            <a:endParaRPr lang="en-US" sz="3200" dirty="0"/>
          </a:p>
        </p:txBody>
      </p:sp>
      <p:sp>
        <p:nvSpPr>
          <p:cNvPr id="3" name="demo-n0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188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watchdog with the sample config</a:t>
            </a:r>
            <a:endParaRPr lang="en-US" sz="1600" dirty="0"/>
          </a:p>
        </p:txBody>
      </p:sp>
      <p:sp>
        <p:nvSpPr>
          <p:cNvPr id="7" name="demo-n1"/>
          <p:cNvSpPr/>
          <p:nvPr/>
        </p:nvSpPr>
        <p:spPr>
          <a:xfrm>
            <a:off x="548640" y="1892808"/>
            <a:ext cx="457200" cy="4572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8470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8470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target running (ps / top)</a:t>
            </a:r>
            <a:endParaRPr lang="en-US" sz="1600" dirty="0"/>
          </a:p>
        </p:txBody>
      </p:sp>
      <p:sp>
        <p:nvSpPr>
          <p:cNvPr id="11" name="demo-n2"/>
          <p:cNvSpPr/>
          <p:nvPr/>
        </p:nvSpPr>
        <p:spPr>
          <a:xfrm>
            <a:off x="548640" y="2551176"/>
            <a:ext cx="457200" cy="45720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054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50545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kill -9 on the target PID</a:t>
            </a:r>
            <a:endParaRPr lang="en-US" sz="1600" dirty="0"/>
          </a:p>
        </p:txBody>
      </p:sp>
      <p:sp>
        <p:nvSpPr>
          <p:cNvPr id="15" name="demo-n3"/>
          <p:cNvSpPr/>
          <p:nvPr/>
        </p:nvSpPr>
        <p:spPr>
          <a:xfrm>
            <a:off x="548640" y="3209544"/>
            <a:ext cx="457200" cy="4572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1638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16382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log: detect, restart, new PID</a:t>
            </a:r>
            <a:endParaRPr lang="en-US" sz="1600" dirty="0"/>
          </a:p>
        </p:txBody>
      </p:sp>
      <p:sp>
        <p:nvSpPr>
          <p:cNvPr id="19" name="demo-n4"/>
          <p:cNvSpPr/>
          <p:nvPr/>
        </p:nvSpPr>
        <p:spPr>
          <a:xfrm>
            <a:off x="548640" y="3867912"/>
            <a:ext cx="457200" cy="4572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221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38221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crash loop and show backoff and the limit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impact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45720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4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kill -9 to a running replacement (1 s poll, 1 s backoff)</a:t>
            </a:r>
            <a:endParaRPr lang="en-US" sz="1400" dirty="0"/>
          </a:p>
        </p:txBody>
      </p:sp>
      <p:sp>
        <p:nvSpPr>
          <p:cNvPr id="6" name="stat-1"/>
          <p:cNvSpPr/>
          <p:nvPr/>
        </p:nvSpPr>
        <p:spPr>
          <a:xfrm>
            <a:off x="324612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4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417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7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286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 needed to recover a crashed process</a:t>
            </a:r>
            <a:endParaRPr lang="en-US" sz="1400" dirty="0"/>
          </a:p>
        </p:txBody>
      </p:sp>
      <p:sp>
        <p:nvSpPr>
          <p:cNvPr id="9" name="stat-2"/>
          <p:cNvSpPr/>
          <p:nvPr/>
        </p:nvSpPr>
        <p:spPr>
          <a:xfrm>
            <a:off x="603504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4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19/19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86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passing, incl. crash loops and zombies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higher availability, less downtime, less manual ops work. Same idea scales to services, workers and long-running jobs.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roles</a:t>
            </a:r>
            <a:endParaRPr lang="en-US" sz="3200" dirty="0"/>
          </a:p>
        </p:txBody>
      </p:sp>
      <p:sp>
        <p:nvSpPr>
          <p:cNvPr id="3" name="team-0"/>
          <p:cNvSpPr/>
          <p:nvPr/>
        </p:nvSpPr>
        <p:spPr>
          <a:xfrm>
            <a:off x="457200" y="137160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EEF4F1"/>
          </a:solidFill>
          <a:ln/>
        </p:spPr>
      </p:sp>
      <p:sp>
        <p:nvSpPr>
          <p:cNvPr id="4" name="avatar0"/>
          <p:cNvSpPr/>
          <p:nvPr/>
        </p:nvSpPr>
        <p:spPr>
          <a:xfrm>
            <a:off x="1051560" y="1600200"/>
            <a:ext cx="731520" cy="731520"/>
          </a:xfrm>
          <a:prstGeom prst="ellipse">
            <a:avLst/>
          </a:prstGeom>
          <a:solidFill>
            <a:srgbClr val="1C3A3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1]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module</a:t>
            </a:r>
            <a:endParaRPr lang="en-US" sz="1400" dirty="0"/>
          </a:p>
        </p:txBody>
      </p:sp>
      <p:sp>
        <p:nvSpPr>
          <p:cNvPr id="8" name="team-1"/>
          <p:cNvSpPr/>
          <p:nvPr/>
        </p:nvSpPr>
        <p:spPr>
          <a:xfrm>
            <a:off x="2532888" y="137160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EEF4F1"/>
          </a:solidFill>
          <a:ln/>
        </p:spPr>
      </p:sp>
      <p:sp>
        <p:nvSpPr>
          <p:cNvPr id="9" name="avatar1"/>
          <p:cNvSpPr/>
          <p:nvPr/>
        </p:nvSpPr>
        <p:spPr>
          <a:xfrm>
            <a:off x="3127248" y="1600200"/>
            <a:ext cx="731520" cy="731520"/>
          </a:xfrm>
          <a:prstGeom prst="ellipse">
            <a:avLst/>
          </a:prstGeom>
          <a:solidFill>
            <a:srgbClr val="1C3A3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2724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624328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2]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24328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engine and policy</a:t>
            </a:r>
            <a:endParaRPr lang="en-US" sz="1400" dirty="0"/>
          </a:p>
        </p:txBody>
      </p:sp>
      <p:sp>
        <p:nvSpPr>
          <p:cNvPr id="13" name="team-2"/>
          <p:cNvSpPr/>
          <p:nvPr/>
        </p:nvSpPr>
        <p:spPr>
          <a:xfrm>
            <a:off x="4608576" y="137160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EEF4F1"/>
          </a:solidFill>
          <a:ln/>
        </p:spPr>
      </p:sp>
      <p:sp>
        <p:nvSpPr>
          <p:cNvPr id="14" name="avatar2"/>
          <p:cNvSpPr/>
          <p:nvPr/>
        </p:nvSpPr>
        <p:spPr>
          <a:xfrm>
            <a:off x="5202936" y="1600200"/>
            <a:ext cx="731520" cy="731520"/>
          </a:xfrm>
          <a:prstGeom prst="ellipse">
            <a:avLst/>
          </a:prstGeom>
          <a:solidFill>
            <a:srgbClr val="1C3A3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02936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700016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3]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00016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config, systemd</a:t>
            </a:r>
            <a:endParaRPr lang="en-US" sz="1400" dirty="0"/>
          </a:p>
        </p:txBody>
      </p:sp>
      <p:sp>
        <p:nvSpPr>
          <p:cNvPr id="18" name="team-3"/>
          <p:cNvSpPr/>
          <p:nvPr/>
        </p:nvSpPr>
        <p:spPr>
          <a:xfrm>
            <a:off x="6684264" y="137160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EEF4F1"/>
          </a:solidFill>
          <a:ln/>
        </p:spPr>
      </p:sp>
      <p:sp>
        <p:nvSpPr>
          <p:cNvPr id="19" name="avatar3"/>
          <p:cNvSpPr/>
          <p:nvPr/>
        </p:nvSpPr>
        <p:spPr>
          <a:xfrm>
            <a:off x="7278624" y="1600200"/>
            <a:ext cx="731520" cy="731520"/>
          </a:xfrm>
          <a:prstGeom prst="ellipse">
            <a:avLst/>
          </a:prstGeom>
          <a:solidFill>
            <a:srgbClr val="1C3A3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78624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775704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4]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75704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docs, presentation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can explain their module and the concepts behind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Slack alerts on repeated failure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(HTTP, port) beyond PID checks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and memory threshold restarts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live status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6" name="repo-card"/>
          <p:cNvSpPr/>
          <p:nvPr/>
        </p:nvSpPr>
        <p:spPr>
          <a:xfrm>
            <a:off x="6126480" y="137160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1C3A3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github.com/[team]/process-watchdog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D8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tchdog">
  <a:themeElements>
    <a:clrScheme name="Watchdog">
      <a:dk1>
        <a:srgbClr val="10201B"/>
      </a:dk1>
      <a:lt1>
        <a:srgbClr val="FFFFFF"/>
      </a:lt1>
      <a:dk2>
        <a:srgbClr val="1C3A31"/>
      </a:dk2>
      <a:lt2>
        <a:srgbClr val="EEF4F1"/>
      </a:lt2>
      <a:accent1>
        <a:srgbClr val="2BB673"/>
      </a:accent1>
      <a:accent2>
        <a:srgbClr val="F5A524"/>
      </a:accent2>
      <a:accent3>
        <a:srgbClr val="E5484D"/>
      </a:accent3>
      <a:accent4>
        <a:srgbClr val="3B82A0"/>
      </a:accent4>
      <a:accent5>
        <a:srgbClr val="5F746C"/>
      </a:accent5>
      <a:accent6>
        <a:srgbClr val="A7D8C0"/>
      </a:accent6>
      <a:hlink>
        <a:srgbClr val="2BB673"/>
      </a:hlink>
      <a:folHlink>
        <a:srgbClr val="5F746C"/>
      </a:folHlink>
    </a:clrScheme>
    <a:fontScheme name="Watchdo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Process Watchdog and Auto-Restart System</dc:title>
  <dc:subject>PptxGenJS Presentation</dc:subject>
  <dc:creator>PptxGenJS</dc:creator>
  <cp:lastModifiedBy>PptxGenJS</cp:lastModifiedBy>
  <cp:revision>1</cp:revision>
  <dcterms:created xsi:type="dcterms:W3CDTF">2026-10-17T04:49:27Z</dcterms:created>
  <dcterms:modified xsi:type="dcterms:W3CDTF">2026-10-17T04:49:27Z</dcterms:modified>
</cp:coreProperties>
</file>